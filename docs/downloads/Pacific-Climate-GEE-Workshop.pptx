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3676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8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6.png"/><Relationship Id="rId4" Type="http://schemas.openxmlformats.org/officeDocument/2006/relationships/image" Target="../media/image22.png"/><Relationship Id="rId9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784080" y="2926080"/>
            <a:ext cx="4206240" cy="4206240"/>
          </a:xfrm>
          <a:prstGeom prst="ellipse">
            <a:avLst/>
          </a:prstGeom>
          <a:solidFill>
            <a:srgbClr val="1C7293">
              <a:alpha val="3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77240" y="731520"/>
            <a:ext cx="1143000" cy="114300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" y="102870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PACIFIC CLIMATE DATA WORKSHOP · 2026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2560320"/>
            <a:ext cx="1024128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Climate Datasets in</a:t>
            </a:r>
            <a:endParaRPr lang="en-US" sz="48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Earth Engine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822960" y="434340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Finding, processing and localizing global climate data for Pacific Island nations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</a:t>
            </a:r>
            <a:r>
              <a:rPr lang="en-US" sz="13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Regional Capacity Building on GIS &amp; Data Management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Google Earth Engine?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6751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free, cloud-based platform that lets you analyse decades of satellite and climate data on Google's servers — straight from your browser, with no large downloads and no powerful computer required.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29718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13232" y="3154680"/>
            <a:ext cx="566928" cy="566928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330208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3108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90+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31520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petabytes of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834640" y="29718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999232" y="3154680"/>
            <a:ext cx="566928" cy="566928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46633" y="3302081"/>
            <a:ext cx="272125" cy="272125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03320" y="3108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1000s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3017520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ready-to-use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120640" y="2971800"/>
            <a:ext cx="2057400" cy="1828800"/>
          </a:xfrm>
          <a:prstGeom prst="roundRect">
            <a:avLst>
              <a:gd name="adj" fmla="val 4000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5285232" y="3154680"/>
            <a:ext cx="566928" cy="566928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2633" y="3302081"/>
            <a:ext cx="272125" cy="272125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989320" y="31089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47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5303520" y="388620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research &amp;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noncommercial use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7635240" y="1371600"/>
            <a:ext cx="3977640" cy="3429000"/>
          </a:xfrm>
          <a:prstGeom prst="roundRect">
            <a:avLst>
              <a:gd name="adj" fmla="val 2133"/>
            </a:avLst>
          </a:prstGeom>
          <a:solidFill>
            <a:srgbClr val="10243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6"/>
          <p:cNvSpPr/>
          <p:nvPr/>
        </p:nvSpPr>
        <p:spPr>
          <a:xfrm>
            <a:off x="7863840" y="1554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 for the Pacific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7863840" y="2103120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82712" y="222199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458200" y="2084832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Ocean &amp; climate data for vast sea areas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863840" y="2761488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82712" y="2880360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458200" y="27432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download huge satellite files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7863840" y="3419856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82712" y="3538728"/>
            <a:ext cx="219456" cy="21945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8458200" y="3401568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Localise global data to your own islands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7863840" y="4078224"/>
            <a:ext cx="457200" cy="45720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2712" y="4197096"/>
            <a:ext cx="219456" cy="219456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8458200" y="4059936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CEA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change over decades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35" name="Text 2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Earth Engine can and can't do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183428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Great for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423160"/>
            <a:ext cx="493776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rainfall, temperature, sea-surface temperature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change &amp; trends over 30+ years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indices (NDVI vegetation, NDWI water)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Zonal statistics &amp; time-series charts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&amp; machine learning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Exporting maps to Drive for QGIS / ArcGIS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99632" y="1463040"/>
            <a:ext cx="5440680" cy="4663440"/>
          </a:xfrm>
          <a:prstGeom prst="roundRect">
            <a:avLst>
              <a:gd name="adj" fmla="val 1569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8232" y="1691640"/>
            <a:ext cx="548640" cy="548640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4536" y="183794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68312" y="1737360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7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designed for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19672" y="2423160"/>
            <a:ext cx="493776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Cartographic page layout / final print maps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Heavy 3D visualisation &amp; photogrammetry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LiDAR point-cloud processing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 interferometry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hydrological / hydraulic models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519672" y="544068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desktop GIS (QGIS / ArcGIS) for these — Earth Engine exports feed straight into them.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·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new since last year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647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Accounts now need a Cloud project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04672" y="2468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late 2024 every user signs up through a free Google Cloud project. Register once for noncommercial use — no credit card needed.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99632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428232" y="178308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4653" y="19495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51192" y="17647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Noncommercial tiers &amp; yearly re-verify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455664" y="2468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free Community tier when you register. Noncommercial projects must re-verify their status once a year.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94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777240" y="4069080"/>
            <a:ext cx="640080" cy="640080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661" y="42355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00200" y="40507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CHIRPS rainfall moving v2 to v3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04672" y="4754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 v2 production ends after Dec 2026. We teach the stable v2 for the 1991–2020 normal and point to v3 for future work.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99632" y="3794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6428232" y="406908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4653" y="4235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51192" y="4050792"/>
            <a:ext cx="4206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 keeps growing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455664" y="4754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climate datasets for rainfall, temperature, sea-surface temperature, elevation and surface water all stay free to use.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exercises, building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261872" y="2194560"/>
            <a:ext cx="585216" cy="585216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4028" y="2346716"/>
            <a:ext cx="280904" cy="280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85800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your account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685800" y="37947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project + free noncommercial registration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2798064" y="192024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511296" y="2194560"/>
            <a:ext cx="585216" cy="585216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452" y="2346716"/>
            <a:ext cx="280904" cy="280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89504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4" name="Text 10"/>
          <p:cNvSpPr/>
          <p:nvPr/>
        </p:nvSpPr>
        <p:spPr>
          <a:xfrm>
            <a:off x="2935224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Editor basics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2935224" y="37947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your way around &amp; load your country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5047488" y="192024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5760720" y="2194560"/>
            <a:ext cx="585216" cy="585216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2876" y="2346716"/>
            <a:ext cx="280904" cy="280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38928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0" name="Text 15"/>
          <p:cNvSpPr/>
          <p:nvPr/>
        </p:nvSpPr>
        <p:spPr>
          <a:xfrm>
            <a:off x="5184648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&amp; drought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5184648" y="37947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CHIRPS — map normals, spot dry years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7296912" y="192024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8010144" y="2194560"/>
            <a:ext cx="585216" cy="585216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2300" y="2346716"/>
            <a:ext cx="280904" cy="28090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7388352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26" name="Text 20"/>
          <p:cNvSpPr/>
          <p:nvPr/>
        </p:nvSpPr>
        <p:spPr>
          <a:xfrm>
            <a:off x="7434072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&amp; heat</a:t>
            </a:r>
            <a:endParaRPr lang="en-US" sz="1500" dirty="0"/>
          </a:p>
        </p:txBody>
      </p:sp>
      <p:sp>
        <p:nvSpPr>
          <p:cNvPr id="27" name="Text 21"/>
          <p:cNvSpPr/>
          <p:nvPr/>
        </p:nvSpPr>
        <p:spPr>
          <a:xfrm>
            <a:off x="7434072" y="37947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ERA5-Land &amp; MODIS — warming trends</a:t>
            </a:r>
            <a:endParaRPr lang="en-US" sz="1200" dirty="0"/>
          </a:p>
        </p:txBody>
      </p:sp>
      <p:sp>
        <p:nvSpPr>
          <p:cNvPr id="28" name="Shape 22"/>
          <p:cNvSpPr/>
          <p:nvPr/>
        </p:nvSpPr>
        <p:spPr>
          <a:xfrm>
            <a:off x="9546336" y="1920240"/>
            <a:ext cx="201168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3"/>
          <p:cNvSpPr/>
          <p:nvPr/>
        </p:nvSpPr>
        <p:spPr>
          <a:xfrm>
            <a:off x="10259568" y="2194560"/>
            <a:ext cx="585216" cy="585216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1724" y="2346716"/>
            <a:ext cx="280904" cy="28090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9637776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EEF4F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600" dirty="0"/>
          </a:p>
        </p:txBody>
      </p:sp>
      <p:sp>
        <p:nvSpPr>
          <p:cNvPr id="32" name="Text 25"/>
          <p:cNvSpPr/>
          <p:nvPr/>
        </p:nvSpPr>
        <p:spPr>
          <a:xfrm>
            <a:off x="9683496" y="297180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Ocean, reefs &amp; coast</a:t>
            </a:r>
            <a:endParaRPr lang="en-US" sz="1500" dirty="0"/>
          </a:p>
        </p:txBody>
      </p:sp>
      <p:sp>
        <p:nvSpPr>
          <p:cNvPr id="33" name="Text 26"/>
          <p:cNvSpPr/>
          <p:nvPr/>
        </p:nvSpPr>
        <p:spPr>
          <a:xfrm>
            <a:off x="9683496" y="379476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SST anomalies &amp; low-lying exposure</a:t>
            </a:r>
            <a:endParaRPr lang="en-US" sz="1200" dirty="0"/>
          </a:p>
        </p:txBody>
      </p:sp>
      <p:sp>
        <p:nvSpPr>
          <p:cNvPr id="34" name="Text 2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937760" cy="493776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1005840" cy="1005840"/>
          </a:xfrm>
          <a:prstGeom prst="ellipse">
            <a:avLst/>
          </a:prstGeom>
          <a:solidFill>
            <a:srgbClr val="10243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" y="259323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93392" y="2788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set up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1168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zero to a working Earth Engine account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a free Earth Engine account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46304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46304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371600" y="1426464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 to the register page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71600" y="1810512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code.earthengine.google.com/register and sign in with a Google account.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94360" y="239572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94360" y="239572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371600" y="235915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 a Cloud project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e.g. ‘Earth Engine Samoa’. Organization &amp; Location → No organization.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94360" y="3328416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4360" y="3328416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Verify noncommercial use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3675888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‘Earth Engine trainer or trainee’, role ‘Participant’, then Check eligibility.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94360" y="426110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94360" y="4261104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371600" y="4224528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Pick the Community tier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71600" y="4608576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free plan — no billing. Describe work as ‘Classroom or education’.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94360" y="5193792"/>
            <a:ext cx="566928" cy="566928"/>
          </a:xfrm>
          <a:prstGeom prst="ellipse">
            <a:avLst/>
          </a:prstGeom>
          <a:solidFill>
            <a:srgbClr val="F4796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4360" y="5193792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371600" y="5157216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Register &amp; open editor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5541264"/>
            <a:ext cx="6035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Confirm, then open code.earthengine.google.com — your project shows top-right.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7772400" y="1463040"/>
            <a:ext cx="3840480" cy="4206240"/>
          </a:xfrm>
          <a:prstGeom prst="roundRect">
            <a:avLst>
              <a:gd name="adj" fmla="val 1905"/>
            </a:avLst>
          </a:prstGeom>
          <a:solidFill>
            <a:srgbClr val="10243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8001000" y="169164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7421" y="1858061"/>
            <a:ext cx="307238" cy="30723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8732520" y="17373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Good to know</a:t>
            </a:r>
            <a:endParaRPr lang="en-US" sz="1700" dirty="0"/>
          </a:p>
        </p:txBody>
      </p:sp>
      <p:sp>
        <p:nvSpPr>
          <p:cNvPr id="28" name="Text 25"/>
          <p:cNvSpPr/>
          <p:nvPr/>
        </p:nvSpPr>
        <p:spPr>
          <a:xfrm>
            <a:off x="8001000" y="2468880"/>
            <a:ext cx="34290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noncommercial &amp; research use — no credit card.
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looks like ‘ee-yourname’ — note it for Python.
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Re-verify</a:t>
            </a:r>
            <a:endParaRPr lang="en-US" sz="1300" dirty="0"/>
          </a:p>
          <a:p>
            <a:pPr marL="0" indent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noncommercial status once a year.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 Editor at a glance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77240" y="178308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194950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Scripts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&amp; open your code (left panel)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355848" y="15544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3584448" y="178308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0869" y="1949501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361688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Editor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3584448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JavaScript; press Run (centre)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63056" y="15544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6391656" y="178308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8077" y="1949501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68896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6391656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output &amp; charts (right)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970264" y="1554480"/>
            <a:ext cx="2606040" cy="2103120"/>
          </a:xfrm>
          <a:prstGeom prst="roundRect">
            <a:avLst>
              <a:gd name="adj" fmla="val 347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198864" y="178308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5285" y="1949501"/>
            <a:ext cx="307238" cy="30723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976104" y="182880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9198864" y="2560320"/>
            <a:ext cx="2194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 you add appear here (bottom)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548640" y="3931920"/>
            <a:ext cx="11091672" cy="1920240"/>
          </a:xfrm>
          <a:prstGeom prst="roundRect">
            <a:avLst>
              <a:gd name="adj" fmla="val 3810"/>
            </a:avLst>
          </a:prstGeom>
          <a:solidFill>
            <a:srgbClr val="10243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19"/>
          <p:cNvSpPr/>
          <p:nvPr/>
        </p:nvSpPr>
        <p:spPr>
          <a:xfrm>
            <a:off x="77724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line of code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777240" y="461772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E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print('Talofa! Earth Engine is working.', ee.Number(40).add(2));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77240" y="521208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Run → the Console shows your message and the number 42.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core workflow: filter, map, reduce, clip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463040" y="196596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9461" y="213238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31520" y="32461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a huge ImageCollection by date &amp; area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0672" y="2788920"/>
            <a:ext cx="292608" cy="29260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355848" y="16916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270248" y="1965960"/>
            <a:ext cx="640080" cy="64008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6669" y="2132381"/>
            <a:ext cx="307238" cy="30723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47288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3538728" y="32461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function to every image (e.g. yearly sums)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2788920"/>
            <a:ext cx="292608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163056" y="16916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7077456" y="1965960"/>
            <a:ext cx="640080" cy="64008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3877" y="2132381"/>
            <a:ext cx="307238" cy="30723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54496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</a:t>
            </a:r>
            <a:endParaRPr lang="en-US" sz="1800" dirty="0"/>
          </a:p>
        </p:txBody>
      </p:sp>
      <p:sp>
        <p:nvSpPr>
          <p:cNvPr id="20" name="Text 13"/>
          <p:cNvSpPr/>
          <p:nvPr/>
        </p:nvSpPr>
        <p:spPr>
          <a:xfrm>
            <a:off x="6345936" y="32461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 to one result — a mean, a composite, a chart</a:t>
            </a:r>
            <a:endParaRPr lang="en-US" sz="125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5088" y="2788920"/>
            <a:ext cx="292608" cy="292608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8970264" y="1691640"/>
            <a:ext cx="2468880" cy="2834640"/>
          </a:xfrm>
          <a:prstGeom prst="roundRect">
            <a:avLst>
              <a:gd name="adj" fmla="val 2963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9884664" y="1965960"/>
            <a:ext cx="640080" cy="640080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1085" y="2132381"/>
            <a:ext cx="307238" cy="307238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9061704" y="274320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</a:t>
            </a:r>
            <a:endParaRPr lang="en-US" sz="1800" dirty="0"/>
          </a:p>
        </p:txBody>
      </p:sp>
      <p:sp>
        <p:nvSpPr>
          <p:cNvPr id="26" name="Text 17"/>
          <p:cNvSpPr/>
          <p:nvPr/>
        </p:nvSpPr>
        <p:spPr>
          <a:xfrm>
            <a:off x="9153144" y="3246120"/>
            <a:ext cx="21031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the result to your country's boundary</a:t>
            </a:r>
            <a:endParaRPr lang="en-US" sz="1250" dirty="0"/>
          </a:p>
        </p:txBody>
      </p:sp>
      <p:sp>
        <p:nvSpPr>
          <p:cNvPr id="27" name="Text 18"/>
          <p:cNvSpPr/>
          <p:nvPr/>
        </p:nvSpPr>
        <p:spPr>
          <a:xfrm>
            <a:off x="548640" y="4846320"/>
            <a:ext cx="11064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exercise in this workshop follows this same four-step pattern — once you know it, you can pull almost any dataset.</a:t>
            </a:r>
            <a:endParaRPr lang="en-US" sz="1500" dirty="0"/>
          </a:p>
        </p:txBody>
      </p:sp>
      <p:sp>
        <p:nvSpPr>
          <p:cNvPr id="28" name="Text 19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29" name="Text 20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280160"/>
            <a:ext cx="4937760" cy="4937760"/>
          </a:xfrm>
          <a:prstGeom prst="ellipse">
            <a:avLst/>
          </a:prstGeom>
          <a:solidFill>
            <a:srgbClr val="1C729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2331720"/>
            <a:ext cx="1005840" cy="1005840"/>
          </a:xfrm>
          <a:prstGeom prst="ellipse">
            <a:avLst/>
          </a:prstGeom>
          <a:solidFill>
            <a:srgbClr val="10243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8758" y="2593238"/>
            <a:ext cx="482803" cy="48280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BFE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1993392" y="2788920"/>
            <a:ext cx="9601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climate themes for the Pacific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2011680" y="370332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Verified, high-quality datasets you'll map for your country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1 · RAINFALL &amp; DROUGHT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&amp; Drought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52760" y="457200"/>
            <a:ext cx="914400" cy="91440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504" y="69494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CHIRPS Daily (v2)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6609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UCSB-CHG/CHIRPS/DAILY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2953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 km · 1981–present · band: precipitation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34107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CHIRPS v3 (successor)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" y="37398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UCSB-CHC/CHIRPS/V3/DAILY_SAT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7240" y="4032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for work continuing past Dec 2026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make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246247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231343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mean-annual rainfall map (1991–2020 normal), clipped to your country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492240" y="320040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999" y="33311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318211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year-by-year rainfall chart where drought years show as dips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999" y="419983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405079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exported GeoTIFF for QGIS / ArcGIS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9224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scripts/javascript/01_rainfall_chirps.js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2 · TEMPERATURE &amp; HEAT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Temperature &amp; Heat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52760" y="457200"/>
            <a:ext cx="914400" cy="914400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504" y="69494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479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ERA5-Land Daily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6609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ECMWF/ERA5_LAND/DAILY_AGGR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2953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~11 km · 1950– · temperature_2m (Kelvin)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34107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MODIS Land Surface Temp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" y="37398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MODIS/061/MOD11A1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7240" y="4032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 km · LST_Day_1km · scale 0.02 (Kelvin)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make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246247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231343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of where land surface heat concentrates (MODIS)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492240" y="3200400"/>
            <a:ext cx="502920" cy="502920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999" y="33311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318211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air-temperature trend chart with a warming trend line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999" y="419983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405079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‘recent decade minus 1990s’ warming map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9224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scripts/javascript/02_temperature_era5_modis.js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3 · OCEAN &amp; REEFS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Sea-Surface Temperature &amp; Reef Heat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52760" y="457200"/>
            <a:ext cx="914400" cy="91440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504" y="69494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NOAA OISST v2.1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6609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NOAA/CDR/OISST/V2_1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2953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0.25° · daily · 1981– · bands sst, anom (×0.01)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34107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Further: Coral Reef Watch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" y="37398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Degree Heating Weeks (CRW)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7240" y="4032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Heat-stress metric for bleaching alerts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make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246247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231343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sea-surface temperature map around your islands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492240" y="320040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999" y="33311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318211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monthly SST anomaly chart — the coral-bleaching signal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999" y="419983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405079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Spotting marine heatwaves (e.g. the 2016 El Niño spike)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9224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Script: scripts/javascript/03_sst_reef_heat.js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 4 · SEA LEVEL &amp; COAST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Low-Lying Coastal Exposure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652760" y="457200"/>
            <a:ext cx="914400" cy="91440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0504" y="694944"/>
            <a:ext cx="438912" cy="43891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5486400" cy="4160520"/>
          </a:xfrm>
          <a:prstGeom prst="roundRect">
            <a:avLst>
              <a:gd name="adj" fmla="val 1758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77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NASADEM elevation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77240" y="2660904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NASA/NASADEM_HGT/001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777240" y="2953512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 · band: elevation (metres)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777240" y="3410712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JRC Global Surface Water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777240" y="3739896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JRC/GSW1_4/GlobalSurfaceWater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77240" y="4032504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· occurrence % · 1984–2021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160020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649224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you'll make</a:t>
            </a:r>
            <a:endParaRPr lang="en-US" sz="1700" dirty="0"/>
          </a:p>
        </p:txBody>
      </p:sp>
      <p:sp>
        <p:nvSpPr>
          <p:cNvPr id="16" name="Shape 13"/>
          <p:cNvSpPr/>
          <p:nvPr/>
        </p:nvSpPr>
        <p:spPr>
          <a:xfrm>
            <a:off x="6492240" y="233172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2999" y="2462479"/>
            <a:ext cx="241402" cy="2414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132320" y="231343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map flagging land below 5 m — the most exposed coast</a:t>
            </a:r>
            <a:endParaRPr lang="en-US" sz="1350" dirty="0"/>
          </a:p>
        </p:txBody>
      </p:sp>
      <p:sp>
        <p:nvSpPr>
          <p:cNvPr id="19" name="Shape 15"/>
          <p:cNvSpPr/>
          <p:nvPr/>
        </p:nvSpPr>
        <p:spPr>
          <a:xfrm>
            <a:off x="6492240" y="320040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2999" y="3331159"/>
            <a:ext cx="241402" cy="2414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32320" y="318211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figure for exposed land area (km²) vs. total land</a:t>
            </a:r>
            <a:endParaRPr lang="en-US" sz="1350" dirty="0"/>
          </a:p>
        </p:txBody>
      </p:sp>
      <p:sp>
        <p:nvSpPr>
          <p:cNvPr id="22" name="Shape 17"/>
          <p:cNvSpPr/>
          <p:nvPr/>
        </p:nvSpPr>
        <p:spPr>
          <a:xfrm>
            <a:off x="6492240" y="4069080"/>
            <a:ext cx="502920" cy="502920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22999" y="4199839"/>
            <a:ext cx="241402" cy="24140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132320" y="4050792"/>
            <a:ext cx="4297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surface water already sits</a:t>
            </a:r>
            <a:endParaRPr lang="en-US" sz="1350" dirty="0"/>
          </a:p>
        </p:txBody>
      </p:sp>
      <p:sp>
        <p:nvSpPr>
          <p:cNvPr id="25" name="Text 19"/>
          <p:cNvSpPr/>
          <p:nvPr/>
        </p:nvSpPr>
        <p:spPr>
          <a:xfrm>
            <a:off x="6492240" y="521208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 DEMs are coarse for flat atolls — use as a screening tool.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JUNE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quick reference</a:t>
            </a:r>
            <a:endParaRPr lang="en-US" sz="3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40233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Theme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 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band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UCSB-CHG/CHIRPS/DAILY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precipitation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 (air)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ECMWF/ERA5_LAND/DAILY_AGGR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temperature_2m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 (surface)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MODIS/061/MOD11A1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 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LST_Day_1km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Sea-surface temp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NOAA/CDR/OISST/V2_1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sst, anom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 / coast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NASA/NASADEM_HGT/001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Surface water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JRC/GSW1_4/GlobalSurfaceWater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 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occurrence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4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Boundaries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USDOS/LSIB_SIMPLE/2017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2A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country_na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datasets are free for noncommercial use. Remember: ERA5/MODIS temps are in Kelvin; OISST &amp; MODIS need scale factors.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 IDEA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77724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 global dataset to your country's 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051560" y="2468880"/>
            <a:ext cx="658368" cy="658368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2736" y="264005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94360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Global data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40080" y="3703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Petabytes in the catalog</a:t>
            </a:r>
            <a:endParaRPr lang="en-US" sz="11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9424" y="3108960"/>
            <a:ext cx="237744" cy="237744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423160" y="21945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2926080" y="2468880"/>
            <a:ext cx="658368" cy="658368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97256" y="2640056"/>
            <a:ext cx="316017" cy="31601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468880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2514600" y="3703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dates &amp; region</a:t>
            </a:r>
            <a:endParaRPr lang="en-US" sz="11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23944" y="3108960"/>
            <a:ext cx="237744" cy="237744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4297680" y="21945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1"/>
          <p:cNvSpPr/>
          <p:nvPr/>
        </p:nvSpPr>
        <p:spPr>
          <a:xfrm>
            <a:off x="4800600" y="2468880"/>
            <a:ext cx="658368" cy="658368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71776" y="2640056"/>
            <a:ext cx="316017" cy="31601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343400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Clip</a:t>
            </a:r>
            <a:endParaRPr lang="en-US" sz="1400" dirty="0"/>
          </a:p>
        </p:txBody>
      </p:sp>
      <p:sp>
        <p:nvSpPr>
          <p:cNvPr id="20" name="Text 13"/>
          <p:cNvSpPr/>
          <p:nvPr/>
        </p:nvSpPr>
        <p:spPr>
          <a:xfrm>
            <a:off x="4389120" y="3703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your boundary</a:t>
            </a:r>
            <a:endParaRPr lang="en-US" sz="1100" dirty="0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8464" y="3108960"/>
            <a:ext cx="237744" cy="237744"/>
          </a:xfrm>
          <a:prstGeom prst="rect">
            <a:avLst/>
          </a:prstGeom>
        </p:spPr>
      </p:pic>
      <p:sp>
        <p:nvSpPr>
          <p:cNvPr id="22" name="Shape 14"/>
          <p:cNvSpPr/>
          <p:nvPr/>
        </p:nvSpPr>
        <p:spPr>
          <a:xfrm>
            <a:off x="6172200" y="21945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5"/>
          <p:cNvSpPr/>
          <p:nvPr/>
        </p:nvSpPr>
        <p:spPr>
          <a:xfrm>
            <a:off x="6675120" y="2468880"/>
            <a:ext cx="658368" cy="658368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4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46296" y="2640056"/>
            <a:ext cx="316017" cy="31601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217920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Visualise</a:t>
            </a:r>
            <a:endParaRPr lang="en-US" sz="1400" dirty="0"/>
          </a:p>
        </p:txBody>
      </p:sp>
      <p:sp>
        <p:nvSpPr>
          <p:cNvPr id="26" name="Text 17"/>
          <p:cNvSpPr/>
          <p:nvPr/>
        </p:nvSpPr>
        <p:spPr>
          <a:xfrm>
            <a:off x="6263640" y="3703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Colour palette + legend</a:t>
            </a:r>
            <a:endParaRPr lang="en-US" sz="1100" dirty="0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2984" y="3108960"/>
            <a:ext cx="237744" cy="237744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8046720" y="21945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19"/>
          <p:cNvSpPr/>
          <p:nvPr/>
        </p:nvSpPr>
        <p:spPr>
          <a:xfrm>
            <a:off x="8549640" y="2468880"/>
            <a:ext cx="658368" cy="658368"/>
          </a:xfrm>
          <a:prstGeom prst="ellipse">
            <a:avLst/>
          </a:prstGeom>
          <a:solidFill>
            <a:srgbClr val="065A82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20816" y="2640056"/>
            <a:ext cx="316017" cy="316017"/>
          </a:xfrm>
          <a:prstGeom prst="rect">
            <a:avLst/>
          </a:prstGeom>
        </p:spPr>
      </p:pic>
      <p:sp>
        <p:nvSpPr>
          <p:cNvPr id="31" name="Text 20"/>
          <p:cNvSpPr/>
          <p:nvPr/>
        </p:nvSpPr>
        <p:spPr>
          <a:xfrm>
            <a:off x="8092440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</a:t>
            </a:r>
            <a:endParaRPr lang="en-US" sz="1400" dirty="0"/>
          </a:p>
        </p:txBody>
      </p:sp>
      <p:sp>
        <p:nvSpPr>
          <p:cNvPr id="32" name="Text 21"/>
          <p:cNvSpPr/>
          <p:nvPr/>
        </p:nvSpPr>
        <p:spPr>
          <a:xfrm>
            <a:off x="8138160" y="3703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over time</a:t>
            </a:r>
            <a:endParaRPr lang="en-US" sz="1100" dirty="0"/>
          </a:p>
        </p:txBody>
      </p:sp>
      <p:pic>
        <p:nvPicPr>
          <p:cNvPr id="33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4" y="3108960"/>
            <a:ext cx="237744" cy="237744"/>
          </a:xfrm>
          <a:prstGeom prst="rect">
            <a:avLst/>
          </a:prstGeom>
        </p:spPr>
      </p:pic>
      <p:sp>
        <p:nvSpPr>
          <p:cNvPr id="34" name="Shape 22"/>
          <p:cNvSpPr/>
          <p:nvPr/>
        </p:nvSpPr>
        <p:spPr>
          <a:xfrm>
            <a:off x="9921240" y="2194560"/>
            <a:ext cx="1691640" cy="23774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23"/>
          <p:cNvSpPr/>
          <p:nvPr/>
        </p:nvSpPr>
        <p:spPr>
          <a:xfrm>
            <a:off x="10424160" y="2468880"/>
            <a:ext cx="658368" cy="658368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6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95336" y="2640056"/>
            <a:ext cx="316017" cy="316017"/>
          </a:xfrm>
          <a:prstGeom prst="rect">
            <a:avLst/>
          </a:prstGeom>
        </p:spPr>
      </p:pic>
      <p:sp>
        <p:nvSpPr>
          <p:cNvPr id="37" name="Text 24"/>
          <p:cNvSpPr/>
          <p:nvPr/>
        </p:nvSpPr>
        <p:spPr>
          <a:xfrm>
            <a:off x="9966960" y="324612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</a:t>
            </a:r>
            <a:endParaRPr lang="en-US" sz="1400" dirty="0"/>
          </a:p>
        </p:txBody>
      </p:sp>
      <p:sp>
        <p:nvSpPr>
          <p:cNvPr id="38" name="Text 25"/>
          <p:cNvSpPr/>
          <p:nvPr/>
        </p:nvSpPr>
        <p:spPr>
          <a:xfrm>
            <a:off x="10012680" y="3703320"/>
            <a:ext cx="1508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1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GeoTIFF to Drive</a:t>
            </a:r>
            <a:endParaRPr lang="en-US" sz="1100" dirty="0"/>
          </a:p>
        </p:txBody>
      </p:sp>
      <p:sp>
        <p:nvSpPr>
          <p:cNvPr id="39" name="Text 26"/>
          <p:cNvSpPr/>
          <p:nvPr/>
        </p:nvSpPr>
        <p:spPr>
          <a:xfrm>
            <a:off x="548640" y="512064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whole point of the workshop: turning global climate data into something local and decision-ready.</a:t>
            </a:r>
            <a:endParaRPr lang="en-US" sz="1500" dirty="0"/>
          </a:p>
        </p:txBody>
      </p:sp>
      <p:sp>
        <p:nvSpPr>
          <p:cNvPr id="40" name="Text 2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41" name="Text 28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IT YOURS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603504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Localising for your country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friendly COUNTRY name in any script — the built-in selector picks the right area automatically: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5486400" cy="2788920"/>
          </a:xfrm>
          <a:prstGeom prst="roundRect">
            <a:avLst>
              <a:gd name="adj" fmla="val 2623"/>
            </a:avLst>
          </a:prstGeom>
          <a:solidFill>
            <a:srgbClr val="EEF4F7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7240" y="2121408"/>
            <a:ext cx="548640" cy="54864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224942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48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Big islands → real LSIB outline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7889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Fiji · Samoa · Vanuatu · Solomon Islands · Papua New Guinea · New Caledonia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777240" y="370332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F4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Gotcha: </a:t>
            </a: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boundary layer stores </a:t>
            </a:r>
            <a:r>
              <a:rPr lang="en-US" sz="1200" dirty="0">
                <a:solidFill>
                  <a:srgbClr val="1B2A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Solomon Is</a:t>
            </a:r>
            <a:r>
              <a:rPr lang="en-US" sz="12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not 'Solomon Islands'.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72200" y="1920240"/>
            <a:ext cx="5440680" cy="2788920"/>
          </a:xfrm>
          <a:prstGeom prst="roundRect">
            <a:avLst>
              <a:gd name="adj" fmla="val 2623"/>
            </a:avLst>
          </a:prstGeom>
          <a:solidFill>
            <a:srgbClr val="10243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400800" y="2121408"/>
            <a:ext cx="548640" cy="548640"/>
          </a:xfrm>
          <a:prstGeom prst="ellipse">
            <a:avLst/>
          </a:prstGeom>
          <a:solidFill>
            <a:srgbClr val="F4796B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8816" y="224942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2148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 islands → point + buffer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400800" y="27889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Tonga · Palau · Tuvalu · Kiribati · Nauru · Niue · Cook Islands · RMI · FSM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0" y="370332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LSIB_SIMPLE excludes smaller islands, so these use a circle around the main group — which also suits the coarse climate grids.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49834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 COUNTRY = 'Solomon Islands';</a:t>
            </a:r>
            <a:r>
              <a:rPr lang="en-US" sz="1250" i="1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Confirm live in your account by running 99_diagnostic_check.js once after signup.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0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2377440"/>
            <a:ext cx="5120640" cy="512064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77240" y="731520"/>
            <a:ext cx="960120" cy="960120"/>
          </a:xfrm>
          <a:prstGeom prst="ellipse">
            <a:avLst/>
          </a:prstGeom>
          <a:solidFill>
            <a:srgbClr val="1C7293"/>
          </a:solidFill>
          <a:ln/>
          <a:effectLst>
            <a:outerShdw blurRad="88900" dist="38100" dir="5400000" algn="bl" rotWithShape="0">
              <a:srgbClr val="000000">
                <a:alpha val="1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6871" y="981151"/>
            <a:ext cx="460858" cy="4608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 err="1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Fa’afetai</a:t>
            </a:r>
            <a:r>
              <a:rPr lang="en-US" sz="1500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Lava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10058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 it's your turn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65760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9F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learning:</a:t>
            </a:r>
            <a:endParaRPr lang="en-US" sz="1400" dirty="0"/>
          </a:p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Engine Data Catalog  ·  Awesome GEE Community Catalog</a:t>
            </a:r>
            <a:endParaRPr lang="en-US" sz="1400" dirty="0"/>
          </a:p>
          <a:p>
            <a:pPr marL="0" indent="0">
              <a:lnSpc>
                <a:spcPct val="13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D7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Earth Engine Fundamentals &amp; Applications (free book)  ·  Spatial Thoughts OpenCourseWare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B8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exercises and copy-paste scripts are in the workshop folder: /exercises and /scripts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SPREP / UNEP CIS-Pac5  ·  Regional Capacity Building on GIS &amp; Data Management 2026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1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1790</Words>
  <Application>Microsoft Macintosh PowerPoint</Application>
  <PresentationFormat>Widescreen</PresentationFormat>
  <Paragraphs>293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 Datasets in Google Earth Engine — Pacific Workshop 2026</dc:title>
  <dc:subject>PptxGenJS Presentation</dc:subject>
  <dc:creator>SPREP / UNEP CIS-Pac5</dc:creator>
  <cp:lastModifiedBy>Tavita Su'a</cp:lastModifiedBy>
  <cp:revision>3</cp:revision>
  <dcterms:created xsi:type="dcterms:W3CDTF">2026-06-23T21:10:07Z</dcterms:created>
  <dcterms:modified xsi:type="dcterms:W3CDTF">2026-06-23T21:35:36Z</dcterms:modified>
</cp:coreProperties>
</file>